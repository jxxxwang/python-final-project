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4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4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173736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New Users' Next-Month Activity</a:t>
            </a:r>
            <a:endParaRPr lang="en-US" sz="4400" dirty="0"/>
          </a:p>
        </p:txBody>
      </p:sp>
      <p:sp>
        <p:nvSpPr>
          <p:cNvPr id="3" name="Subtitle"/>
          <p:cNvSpPr txBox="1"/>
          <p:nvPr/>
        </p:nvSpPr>
        <p:spPr>
          <a:xfrm>
            <a:off x="731520" y="301752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report: finding and fixing a polluted label, class weighting, tuning, and per-category features</a:t>
            </a:r>
            <a:endParaRPr lang="en-US" sz="2000" dirty="0"/>
          </a:p>
        </p:txBody>
      </p:sp>
      <p:sp>
        <p:nvSpPr>
          <p:cNvPr id="4" name="Presenters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Xiaoyu Yi  ·  Huixi Wang</a:t>
            </a:r>
            <a:endParaRPr lang="en-US" sz="2200" dirty="0"/>
          </a:p>
        </p:txBody>
      </p:sp>
      <p:sp>
        <p:nvSpPr>
          <p:cNvPr id="5" name="Course"/>
          <p:cNvSpPr txBox="1"/>
          <p:nvPr/>
        </p:nvSpPr>
        <p:spPr>
          <a:xfrm>
            <a:off x="731520" y="5074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AI7101 Python final project  ·  Zindi “New User Engagement” challenge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Summary: four improvements</a:t>
            </a:r>
            <a:endParaRPr lang="en-US" sz="3000" dirty="0"/>
          </a:p>
        </p:txBody>
      </p:sp>
      <p:sp>
        <p:nvSpPr>
          <p:cNvPr id="3" name="Number badge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4" name="Number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Improvement"/>
          <p:cNvSpPr txBox="1"/>
          <p:nvPr/>
        </p:nvSpPr>
        <p:spPr>
          <a:xfrm>
            <a:off x="1325880" y="137160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pollution fixed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record, badge_OCZE, lifted the M12 cohort's next-month active rate from ~29% to 78%.</a:t>
            </a:r>
            <a:endParaRPr lang="en-US" sz="1800" dirty="0"/>
          </a:p>
        </p:txBody>
      </p:sp>
      <p:sp>
        <p:nvSpPr>
          <p:cNvPr id="6" name="Number badge"/>
          <p:cNvSpPr/>
          <p:nvPr/>
        </p:nvSpPr>
        <p:spPr>
          <a:xfrm>
            <a:off x="548640" y="233172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7" name="Number"/>
          <p:cNvSpPr txBox="1"/>
          <p:nvPr/>
        </p:nvSpPr>
        <p:spPr>
          <a:xfrm>
            <a:off x="54864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Improvement"/>
          <p:cNvSpPr txBox="1"/>
          <p:nvPr/>
        </p:nvSpPr>
        <p:spPr>
          <a:xfrm>
            <a:off x="1325880" y="228600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weighting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Eases the 1:4 positive/negative imbalance.</a:t>
            </a:r>
            <a:endParaRPr lang="en-US" sz="1800" dirty="0"/>
          </a:p>
        </p:txBody>
      </p:sp>
      <p:sp>
        <p:nvSpPr>
          <p:cNvPr id="9" name="Number badge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" name="Number"/>
          <p:cNvSpPr txBox="1"/>
          <p:nvPr/>
        </p:nvSpPr>
        <p:spPr>
          <a:xfrm>
            <a:off x="54864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Improvement"/>
          <p:cNvSpPr txBox="1"/>
          <p:nvPr/>
        </p:nvSpPr>
        <p:spPr>
          <a:xfrm>
            <a:off x="1325880" y="320040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Hyper-parameter search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Cures the decision tree's overfitting.</a:t>
            </a:r>
            <a:endParaRPr lang="en-US" sz="1800" dirty="0"/>
          </a:p>
        </p:txBody>
      </p:sp>
      <p:sp>
        <p:nvSpPr>
          <p:cNvPr id="12" name="Number badge"/>
          <p:cNvSpPr/>
          <p:nvPr/>
        </p:nvSpPr>
        <p:spPr>
          <a:xfrm>
            <a:off x="548640" y="416052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3" name="Number"/>
          <p:cNvSpPr txBox="1"/>
          <p:nvPr/>
        </p:nvSpPr>
        <p:spPr>
          <a:xfrm>
            <a:off x="54864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Improvement"/>
          <p:cNvSpPr txBox="1"/>
          <p:nvPr/>
        </p:nvSpPr>
        <p:spPr>
          <a:xfrm>
            <a:off x="1325880" y="411480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features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per-page columns so features generalise to new months.</a:t>
            </a:r>
            <a:endParaRPr lang="en-US" sz="1800" dirty="0"/>
          </a:p>
        </p:txBody>
      </p:sp>
      <p:sp>
        <p:nvSpPr>
          <p:cNvPr id="15" name="Result panel"/>
          <p:cNvSpPr/>
          <p:nvPr/>
        </p:nvSpPr>
        <p:spPr>
          <a:xfrm>
            <a:off x="7498080" y="1371600"/>
            <a:ext cx="4114800" cy="3657600"/>
          </a:xfrm>
          <a:prstGeom prst="roundRect">
            <a:avLst>
              <a:gd name="adj" fmla="val 3000"/>
            </a:avLst>
          </a:prstGeom>
          <a:solidFill>
            <a:srgbClr val="14324F"/>
          </a:solidFill>
          <a:ln w="12700">
            <a:solidFill>
              <a:srgbClr val="14324F"/>
            </a:solidFill>
            <a:prstDash val="solid"/>
          </a:ln>
        </p:spPr>
      </p:sp>
      <p:sp>
        <p:nvSpPr>
          <p:cNvPr id="16" name="Result text"/>
          <p:cNvSpPr txBox="1"/>
          <p:nvPr/>
        </p:nvSpPr>
        <p:spPr>
          <a:xfrm>
            <a:off x="7772400" y="155448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5-fold CV F1</a:t>
            </a:r>
            <a:endParaRPr lang="en-US" sz="16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0.475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logistic regression</a:t>
            </a:r>
            <a:endParaRPr lang="en-US" sz="1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0.469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tree, per-category features</a:t>
            </a: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9A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0.328 for the all-ones baseline</a:t>
            </a:r>
            <a:endParaRPr lang="en-US" sz="1600" dirty="0"/>
          </a:p>
        </p:txBody>
      </p:sp>
      <p:sp>
        <p:nvSpPr>
          <p:cNvPr id="17" name="Callout box"/>
          <p:cNvSpPr/>
          <p:nvPr/>
        </p:nvSpPr>
        <p:spPr>
          <a:xfrm>
            <a:off x="548640" y="53492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sp>
        <p:nvSpPr>
          <p:cNvPr id="18" name="Callout"/>
          <p:cNvSpPr txBox="1"/>
          <p:nvPr/>
        </p:nvSpPr>
        <p:spPr>
          <a:xfrm>
            <a:off x="731520" y="53492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problem was the labels, not the model.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4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Task, data and features</a:t>
            </a:r>
            <a:endParaRPr lang="en-US" sz="30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371600"/>
            <a:ext cx="58521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Task.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new user's behaviour in the signup month, predict whether they are active in the next month. Metric: F1 of the positive class (Active = 1) on hard 0/1 labels.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12,413 users. Signup months are masked but ordered 11 → 12 → 1 → 2 → 3 → 4 → 5 (M11 … M5). Predictions are needed for the 1,340 M4 signups.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Y.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if the user has any record in the month after signup (clicks, competition joins, posts, comments). M4 is hidden, M5 has no next month → 9,026 labelled users (M11–M3).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X.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Signup-month events only: 5 profile columns + one count column per behaviour (specific pages get one column per page ID).</a:t>
            </a:r>
            <a:endParaRPr lang="en-US" sz="1500" dirty="0"/>
          </a:p>
        </p:txBody>
      </p:sp>
      <p:sp>
        <p:nvSpPr>
          <p:cNvPr id="4" name="Code box"/>
          <p:cNvSpPr/>
          <p:nvPr/>
        </p:nvSpPr>
        <p:spPr>
          <a:xfrm>
            <a:off x="6675120" y="137160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5" name="Code"/>
          <p:cNvSpPr txBox="1"/>
          <p:nvPr/>
        </p:nvSpPr>
        <p:spPr>
          <a:xfrm>
            <a:off x="6784848" y="1426464"/>
            <a:ext cx="471830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src.data import DatasetSpec, build_xy, load_raw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 = DatasetSpec(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feature_groups=("profile", "activity_counts"))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xy = build_xy(load_raw(), spec)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xy.X[xy.labelled]            # features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xy.y[xy.labelled].astype(int)  # next-month active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 = 1 if any event in month t+1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uses only events in month t</a:t>
            </a:r>
            <a:endParaRPr lang="en-US" sz="1300" dirty="0"/>
          </a:p>
        </p:txBody>
      </p:sp>
      <p:sp>
        <p:nvSpPr>
          <p:cNvPr id="6" name="Callout box"/>
          <p:cNvSpPr/>
          <p:nvPr/>
        </p:nvSpPr>
        <p:spPr>
          <a:xfrm>
            <a:off x="6675120" y="4572000"/>
            <a:ext cx="4937760" cy="914400"/>
          </a:xfrm>
          <a:prstGeom prst="roundRect">
            <a:avLst>
              <a:gd name="adj" fmla="val 10000"/>
            </a:avLst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sp>
        <p:nvSpPr>
          <p:cNvPr id="7" name="Callout"/>
          <p:cNvSpPr txBox="1"/>
          <p:nvPr/>
        </p:nvSpPr>
        <p:spPr>
          <a:xfrm>
            <a:off x="6858000" y="45720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Profile: FeatureX, FeatureY, country, signup day, signup hour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4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Evaluation setup</a:t>
            </a:r>
            <a:endParaRPr lang="en-US" sz="30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Labelled users split at random into 5 folds, stratified by label (seed 42). All models share the same split; we report mean ± std of F1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 leaderboard, computed on the M4 users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threshold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 1 when probability ≥ 0.5; never tuned in any experiment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ubhead"/>
          <p:cNvSpPr txBox="1"/>
          <p:nvPr/>
        </p:nvSpPr>
        <p:spPr>
          <a:xfrm>
            <a:off x="548640" y="3383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all-ones baseline reveals the positive rate</a:t>
            </a:r>
            <a:endParaRPr lang="en-US" sz="1800" dirty="0"/>
          </a:p>
        </p:txBody>
      </p:sp>
      <p:sp>
        <p:nvSpPr>
          <p:cNvPr id="5" name="Body"/>
          <p:cNvSpPr txBox="1"/>
          <p:nvPr/>
        </p:nvSpPr>
        <p:spPr>
          <a:xfrm>
            <a:off x="548640" y="384048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1 for everyone gives recall = 1 and precision = p (the positive rate).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F1 depends only on p, and we can invert it to recover p from any all-ones score.</a:t>
            </a:r>
            <a:endParaRPr lang="en-US" sz="1500" dirty="0"/>
          </a:p>
        </p:txBody>
      </p:sp>
      <p:sp>
        <p:nvSpPr>
          <p:cNvPr id="6" name="Code box"/>
          <p:cNvSpPr/>
          <p:nvPr/>
        </p:nvSpPr>
        <p:spPr>
          <a:xfrm>
            <a:off x="6492240" y="347472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6601968" y="3529584"/>
            <a:ext cx="490118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F1(all-ones) = 2p / (1 + p)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positive_rate(f1_all_ones):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f1_all_ones / (2 - f1_all_ones)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positive_rate(0.25)  # leaderboard -&gt; 0.143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positive_rate(0.468) # our CV      -&gt; 0.305</a:t>
            </a:r>
            <a:endParaRPr lang="en-US" sz="1400" dirty="0"/>
          </a:p>
        </p:txBody>
      </p:sp>
      <p:sp>
        <p:nvSpPr>
          <p:cNvPr id="8" name="Caption"/>
          <p:cNvSpPr txBox="1"/>
          <p:nvPr/>
        </p:nvSpPr>
        <p:spPr>
          <a:xfrm>
            <a:off x="6492240" y="5577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uses this inversion to discover the problem.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4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Starting point: CV and leaderboard disagree</a:t>
            </a:r>
            <a:endParaRPr lang="en-US" sz="30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486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73736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5-fold CV F1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Leaderboard F1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all-ones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0.677 ± 0.019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all-ones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4" name="Body"/>
          <p:cNvSpPr txBox="1"/>
          <p:nvPr/>
        </p:nvSpPr>
        <p:spPr>
          <a:xfrm>
            <a:off x="548640" y="3108960"/>
            <a:ext cx="5486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1: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all-ones fell from 0.468 to 0.25. Inverting gives a positive rate of 0.305 in labelled data vs ~0.143 in test, so the gap sits in the labels.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2: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flags only 47 of 1,340 test users (3.5%) as active; the true rate is ~14%.</a:t>
            </a:r>
            <a:endParaRPr lang="en-US" sz="1500" dirty="0"/>
          </a:p>
        </p:txBody>
      </p:sp>
      <p:sp>
        <p:nvSpPr>
          <p:cNvPr id="5" name="Subhead"/>
          <p:cNvSpPr txBox="1"/>
          <p:nvPr/>
        </p:nvSpPr>
        <p:spPr>
          <a:xfrm>
            <a:off x="6492240" y="1325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 to test</a:t>
            </a:r>
            <a:endParaRPr lang="en-US" sz="1800" dirty="0"/>
          </a:p>
        </p:txBody>
      </p:sp>
      <p:graphicFrame>
        <p:nvGraphicFramePr>
          <p:cNvPr id="1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737360"/>
          <a:ext cx="51206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92608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of the training labels is abnormally inflated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1:4 imbalance + 0.5 threshold make the model too conservative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unlimited-depth decision tree overfits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issue with trees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Per-page-ID features do not generalise to new months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competitions / blogs in 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4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H1: which cohort is off?</a:t>
            </a:r>
            <a:endParaRPr lang="en-US" sz="3000" dirty="0"/>
          </a:p>
        </p:txBody>
      </p:sp>
      <p:pic>
        <p:nvPicPr>
          <p:cNvPr id="3" name="Cohort positive rate chart" descr="Cohort positive rate 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67408"/>
            <a:ext cx="6949440" cy="3397504"/>
          </a:xfrm>
          <a:prstGeom prst="rect">
            <a:avLst/>
          </a:prstGeom>
        </p:spPr>
      </p:pic>
      <p:sp>
        <p:nvSpPr>
          <p:cNvPr id="4" name="Caption"/>
          <p:cNvSpPr txBox="1"/>
          <p:nvPr/>
        </p:nvSpPr>
        <p:spPr>
          <a:xfrm>
            <a:off x="548640" y="58521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Next-month active rate by signup cohort. Grey = raw labels, blue = without badge_OCZE, dashed = test rate implied by the leaderboard.</a:t>
            </a:r>
            <a:endParaRPr lang="en-US" sz="1200" dirty="0"/>
          </a:p>
        </p:txBody>
      </p:sp>
      <p:sp>
        <p:nvSpPr>
          <p:cNvPr id="5" name="Body"/>
          <p:cNvSpPr txBox="1"/>
          <p:nvPr/>
        </p:nvSpPr>
        <p:spPr>
          <a:xfrm>
            <a:off x="7863840" y="1463040"/>
            <a:ext cx="3749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M11, M1, M2, M3 sit at 12–21%, and the test cohort's ~14% fits that range.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 alone is at 78%.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inflated overall positive rate (0.305) therefore comes almost entirely from one month.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4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H1: which behaviour is responsible?</a:t>
            </a:r>
            <a:endParaRPr lang="en-US" sz="3000" dirty="0"/>
          </a:p>
        </p:txBody>
      </p:sp>
      <p:pic>
        <p:nvPicPr>
          <p:cNvPr id="3" name="M12 label-month activity chart" descr="M12 label-month activity 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48232"/>
            <a:ext cx="5120640" cy="4893056"/>
          </a:xfrm>
          <a:prstGeom prst="rect">
            <a:avLst/>
          </a:prstGeom>
        </p:spPr>
      </p:pic>
      <p:sp>
        <p:nvSpPr>
          <p:cNvPr id="4" name="Body"/>
          <p:cNvSpPr txBox="1"/>
          <p:nvPr/>
        </p:nvSpPr>
        <p:spPr>
          <a:xfrm>
            <a:off x="6035040" y="1371600"/>
            <a:ext cx="55778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badge_OCZE is abnormal: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 of M12's active users have it, vs 5% in other cohorts.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usage (browsing competitions and discussions, downloads, submissions, sign-ins) is about half as common in M12.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987 users (50%)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M12 have only this one record in the next month.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appears on day 15 of month 1 for 3,005 users at once: it looks like a batch badge granted by the system (our inference; undocumented).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4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H1: fix and verify</a:t>
            </a:r>
            <a:endParaRPr lang="en-US" sz="3000" dirty="0"/>
          </a:p>
        </p:txBody>
      </p:sp>
      <p:sp>
        <p:nvSpPr>
          <p:cNvPr id="3" name="Code box"/>
          <p:cNvSpPr/>
          <p:nvPr/>
        </p:nvSpPr>
        <p:spPr>
          <a:xfrm>
            <a:off x="548640" y="137160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4" name="Code"/>
          <p:cNvSpPr txBox="1"/>
          <p:nvPr/>
        </p:nvSpPr>
        <p:spPr>
          <a:xfrm>
            <a:off x="658368" y="1426464"/>
            <a:ext cx="526694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 src/data/loading.py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EXCLUDED_TITLES = ("badge_OCZE",)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activity = tables["activity"]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tables["activity"] = activity[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~activity.Title.isin(exclude_titles)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].reset_index(drop=True)   # 8,864 rows dropped</a:t>
            </a:r>
            <a:endParaRPr lang="en-US" sz="1300" dirty="0"/>
          </a:p>
        </p:txBody>
      </p:sp>
      <p:sp>
        <p:nvSpPr>
          <p:cNvPr id="5" name="Caption"/>
          <p:cNvSpPr txBox="1"/>
          <p:nvPr/>
        </p:nvSpPr>
        <p:spPr>
          <a:xfrm>
            <a:off x="548640" y="3703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at load time, so both X and Y are unaffected.</a:t>
            </a:r>
            <a:endParaRPr lang="en-US" sz="1200" dirty="0"/>
          </a:p>
        </p:txBody>
      </p:sp>
      <p:graphicFrame>
        <p:nvGraphicFramePr>
          <p:cNvPr id="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371600"/>
          <a:ext cx="53035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M12 next-month active 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cohorts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12–21%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unchanged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positive 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all-ones CV 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 CV 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allout box"/>
          <p:cNvSpPr/>
          <p:nvPr/>
        </p:nvSpPr>
        <p:spPr>
          <a:xfrm>
            <a:off x="548640" y="429768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sp>
        <p:nvSpPr>
          <p:cNvPr id="8" name="Callout"/>
          <p:cNvSpPr txBox="1"/>
          <p:nvPr/>
        </p:nvSpPr>
        <p:spPr>
          <a:xfrm>
            <a:off x="731520" y="429768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confirmed. The earlier high score came largely from recognising M12 users, not from learning behaviour. All later experiments use the cleaned data.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4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H2: 1:4 imbalance makes the model say “active” too rarely</a:t>
            </a:r>
            <a:endParaRPr lang="en-US" sz="30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371600"/>
            <a:ext cx="5760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fix: 1,770 positives (19.6%), about 1:4.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gives test users a mean probability of only ~0.12, so just 51 (3.8%) cross 0.5; the true rate is ~14%.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punishes missed positives: with ~190 true actives, even 51 perfect hits give recall ≈ 27%.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Experiment: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change only, class_weight="balanced" (each positive weighs ~4× a negative). Threshold and everything else unchanged.</a:t>
            </a:r>
            <a:endParaRPr lang="en-US" sz="1600" dirty="0"/>
          </a:p>
        </p:txBody>
      </p:sp>
      <p:sp>
        <p:nvSpPr>
          <p:cNvPr id="4" name="Code box"/>
          <p:cNvSpPr/>
          <p:nvPr/>
        </p:nvSpPr>
        <p:spPr>
          <a:xfrm>
            <a:off x="6675120" y="1371600"/>
            <a:ext cx="4937760" cy="1554480"/>
          </a:xfrm>
          <a:prstGeom prst="roundRect">
            <a:avLst>
              <a:gd name="adj" fmla="val 4706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5" name="Code"/>
          <p:cNvSpPr txBox="1"/>
          <p:nvPr/>
        </p:nvSpPr>
        <p:spPr>
          <a:xfrm>
            <a:off x="6784848" y="1426464"/>
            <a:ext cx="471830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LogisticRegression(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C=1.0, max_iter=2000,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class_weight="balanced",   # &lt;- only change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random_state=42)</a:t>
            </a:r>
            <a:endParaRPr lang="en-US" sz="1400" dirty="0"/>
          </a:p>
        </p:txBody>
      </p:sp>
      <p:graphicFrame>
        <p:nvGraphicFramePr>
          <p:cNvPr id="1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3291840"/>
          <a:ext cx="49377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flagged active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0.375 ± 0.027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 (3.8%)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class weights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0.475 ± 0.011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 (10.2%)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A"/>
                    </a:solidFill>
                  </a:tcPr>
                </a:tc>
              </a:tr>
            </a:tbl>
          </a:graphicData>
        </a:graphic>
      </p:graphicFrame>
      <p:sp>
        <p:nvSpPr>
          <p:cNvPr id="7" name="Callout box"/>
          <p:cNvSpPr/>
          <p:nvPr/>
        </p:nvSpPr>
        <p:spPr>
          <a:xfrm>
            <a:off x="6675120" y="4937760"/>
            <a:ext cx="4937760" cy="1005840"/>
          </a:xfrm>
          <a:prstGeom prst="roundRect">
            <a:avLst>
              <a:gd name="adj" fmla="val 9091"/>
            </a:avLst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sp>
        <p:nvSpPr>
          <p:cNvPr id="8" name="Callout"/>
          <p:cNvSpPr txBox="1"/>
          <p:nvPr/>
        </p:nvSpPr>
        <p:spPr>
          <a:xfrm>
            <a:off x="6858000" y="49377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confirmed: +0.10 F1, far above the fold-to-fold noise (~0.01–0.03).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4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H3: the default decision tree overfits</a:t>
            </a:r>
            <a:endParaRPr lang="en-US" sz="30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371600"/>
            <a:ext cx="5486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tree: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46–63, ~1,400 leaves, train F1 0.995 vs validation F1 0.391.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Experiment: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over 216 settings, chosen by inner 5-fold F1.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CV: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each outer fold the search sees only that fold's training data, so tuning does not inflate the score.</a:t>
            </a:r>
            <a:endParaRPr lang="en-US" sz="1500" dirty="0"/>
          </a:p>
        </p:txBody>
      </p:sp>
      <p:sp>
        <p:nvSpPr>
          <p:cNvPr id="4" name="Code box"/>
          <p:cNvSpPr/>
          <p:nvPr/>
        </p:nvSpPr>
        <p:spPr>
          <a:xfrm>
            <a:off x="6309360" y="1371600"/>
            <a:ext cx="5303520" cy="2743200"/>
          </a:xfrm>
          <a:prstGeom prst="roundRect">
            <a:avLst>
              <a:gd name="adj" fmla="val 2667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5" name="Code"/>
          <p:cNvSpPr txBox="1"/>
          <p:nvPr/>
        </p:nvSpPr>
        <p:spPr>
          <a:xfrm>
            <a:off x="6419088" y="1426464"/>
            <a:ext cx="5084064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TREE_GRID =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"max_depth": [2,3,4,5,6,8,10,15,None],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"min_samples_leaf": [1,5,10,20,50,100],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"criterion": ["gini","entropy"],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"class_weight": [None,"balanced"],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 # 9 x 6 x 2 x 2 = 216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GridSearchCV(tree, grid, scoring="f1",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cv=StratifiedKFold(5, shuffle=True))</a:t>
            </a:r>
            <a:endParaRPr lang="en-US" sz="1200" dirty="0"/>
          </a:p>
        </p:txBody>
      </p:sp>
      <p:graphicFrame>
        <p:nvGraphicFramePr>
          <p:cNvPr id="1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80560"/>
          <a:ext cx="6949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1097280"/>
                <a:gridCol w="128016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tree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46–63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~1,400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0.391 ± 0.014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 tree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0.456 ± 0.019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A"/>
                    </a:solidFill>
                  </a:tcPr>
                </a:tc>
              </a:tr>
            </a:tbl>
          </a:graphicData>
        </a:graphic>
      </p:graphicFrame>
      <p:sp>
        <p:nvSpPr>
          <p:cNvPr id="7" name="Callout box"/>
          <p:cNvSpPr/>
          <p:nvPr/>
        </p:nvSpPr>
        <p:spPr>
          <a:xfrm>
            <a:off x="7772400" y="4480560"/>
            <a:ext cx="3840480" cy="1737360"/>
          </a:xfrm>
          <a:prstGeom prst="roundRect">
            <a:avLst>
              <a:gd name="adj" fmla="val 5263"/>
            </a:avLst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sp>
        <p:nvSpPr>
          <p:cNvPr id="8" name="Callout"/>
          <p:cNvSpPr txBox="1"/>
          <p:nvPr/>
        </p:nvSpPr>
        <p:spPr>
          <a:xfrm>
            <a:off x="7955280" y="448056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confirmed: train–valid gap 0.60 → 0.10, valid F1 +0.065. Best: depth 8, min leaf 5, gini, balanced (class weights re-selected, consistent with H2).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4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· H4: per-page features do not transfer to new months</a:t>
            </a:r>
            <a:endParaRPr lang="en-US" sz="3000" dirty="0"/>
          </a:p>
        </p:txBody>
      </p:sp>
      <p:pic>
        <p:nvPicPr>
          <p:cNvPr id="3" name="Page support chart" descr="Page support 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30375"/>
            <a:ext cx="7223760" cy="3322930"/>
          </a:xfrm>
          <a:prstGeom prst="rect">
            <a:avLst/>
          </a:prstGeom>
        </p:spPr>
      </p:pic>
      <p:sp>
        <p:nvSpPr>
          <p:cNvPr id="4" name="Caption"/>
          <p:cNvSpPr txBox="1"/>
          <p:nvPr/>
        </p:nvSpPr>
        <p:spPr>
          <a:xfrm>
            <a:off x="548640" y="53492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M4 page view is coloured by how many training users have that column. Orange = never seen in training. Bottom row = per-category columns.</a:t>
            </a:r>
            <a:endParaRPr lang="en-US" sz="1200" dirty="0"/>
          </a:p>
        </p:txBody>
      </p:sp>
      <p:sp>
        <p:nvSpPr>
          <p:cNvPr id="5" name="Body"/>
          <p:cNvSpPr txBox="1"/>
          <p:nvPr/>
        </p:nvSpPr>
        <p:spPr>
          <a:xfrm>
            <a:off x="8046720" y="1371600"/>
            <a:ext cx="35661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page ID: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 of competition, 23% of blog and 53% of job views land on columns never seen in training.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M4's most popular competition, comp_ID_WZ0H, is new. Not special to M4: 31–64% of competition views in other months also hit new ones (WOVD → 528W → GAV9 → WZ0H → IMTG).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category: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the same 2,669 views land on well-supported columns.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4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· H4: per-category features, experiment and result</a:t>
            </a:r>
            <a:endParaRPr lang="en-US" sz="3000" dirty="0"/>
          </a:p>
        </p:txBody>
      </p:sp>
      <p:sp>
        <p:nvSpPr>
          <p:cNvPr id="3" name="Code box"/>
          <p:cNvSpPr/>
          <p:nvPr/>
        </p:nvSpPr>
        <p:spPr>
          <a:xfrm>
            <a:off x="548640" y="1371600"/>
            <a:ext cx="5120640" cy="2834640"/>
          </a:xfrm>
          <a:prstGeom prst="roundRect">
            <a:avLst>
              <a:gd name="adj" fmla="val 2581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4" name="Code"/>
          <p:cNvSpPr txBox="1"/>
          <p:nvPr/>
        </p:nvSpPr>
        <p:spPr>
          <a:xfrm>
            <a:off x="658368" y="1426464"/>
            <a:ext cx="490118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PAGE_TYPES = {"comp_": "comp_page",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"blog_": "blog_page",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"job_":  "job_page",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"badge_": "badge"}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comp_ID_WZ0H -&gt; comp_page, ...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ActivityCounts(by_type=True)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X: 390 -&gt; 45 columns; total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behaviour counts per user unchanged</a:t>
            </a:r>
            <a:endParaRPr lang="en-US" sz="1300" dirty="0"/>
          </a:p>
        </p:txBody>
      </p:sp>
      <p:sp>
        <p:nvSpPr>
          <p:cNvPr id="5" name="Caption"/>
          <p:cNvSpPr txBox="1"/>
          <p:nvPr/>
        </p:nvSpPr>
        <p:spPr>
          <a:xfrm>
            <a:off x="548640" y="42976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space, nested CV and splits are identical to section 5.</a:t>
            </a:r>
            <a:endParaRPr lang="en-US" sz="1200" dirty="0"/>
          </a:p>
        </p:txBody>
      </p:sp>
      <p:graphicFrame>
        <p:nvGraphicFramePr>
          <p:cNvPr id="1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371600"/>
          <a:ext cx="56692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822960"/>
                <a:gridCol w="1280160"/>
                <a:gridCol w="1280160"/>
                <a:gridCol w="1005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params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flagged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page 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0.456 ± 0.019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 8, leaf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246 (18.4%)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category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0.469 ± 0.011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 5, leaf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233 (17.4%)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A"/>
                    </a:solidFill>
                  </a:tcPr>
                </a:tc>
              </a:tr>
            </a:tbl>
          </a:graphicData>
        </a:graphic>
      </p:graphicFrame>
      <p:sp>
        <p:nvSpPr>
          <p:cNvPr id="7" name="Body"/>
          <p:cNvSpPr txBox="1"/>
          <p:nvPr/>
        </p:nvSpPr>
        <p:spPr>
          <a:xfrm>
            <a:off x="5943600" y="3108960"/>
            <a:ext cx="5669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 confirmed.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+0.013, smaller std (0.019 → 0.011), shallower tree (8 → 5): simpler and more stable.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+0.013 is the size of the fold noise.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splits mix the same months, so “new page” issues are underestimated; the benefit should show on the leaderboard or a time-based split.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4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· Results summary</a:t>
            </a:r>
            <a:endParaRPr lang="en-US" sz="3000" dirty="0"/>
          </a:p>
        </p:txBody>
      </p:sp>
      <p:pic>
        <p:nvPicPr>
          <p:cNvPr id="3" name="CV F1 summary chart" descr="CV F1 summary 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03096"/>
            <a:ext cx="5669280" cy="2771648"/>
          </a:xfrm>
          <a:prstGeom prst="rect">
            <a:avLst/>
          </a:prstGeom>
        </p:spPr>
      </p:pic>
      <p:sp>
        <p:nvSpPr>
          <p:cNvPr id="4" name="Caption"/>
          <p:cNvSpPr txBox="1"/>
          <p:nvPr/>
        </p:nvSpPr>
        <p:spPr>
          <a:xfrm>
            <a:off x="548640" y="43434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F1 on cleaned data (mean ± sd). Blue = models with improvements; dashed = all-ones.</a:t>
            </a:r>
            <a:endParaRPr lang="en-US" sz="1200" dirty="0"/>
          </a:p>
        </p:txBody>
      </p:sp>
      <p:graphicFrame>
        <p:nvGraphicFramePr>
          <p:cNvPr id="1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371600"/>
          <a:ext cx="51206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55448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drop badge_OCZE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→ after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comparable (labels changed)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 class weights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LogReg → weighted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0.375 → 0.475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H3 tuning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→ tuned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0.391 → 0.456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H4 per-category 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page → per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0.456 → 0.469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Callout box"/>
          <p:cNvSpPr/>
          <p:nvPr/>
        </p:nvSpPr>
        <p:spPr>
          <a:xfrm>
            <a:off x="6492240" y="4023360"/>
            <a:ext cx="5120640" cy="1188720"/>
          </a:xfrm>
          <a:prstGeom prst="roundRect">
            <a:avLst>
              <a:gd name="adj" fmla="val 7692"/>
            </a:avLst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sp>
        <p:nvSpPr>
          <p:cNvPr id="7" name="Callout"/>
          <p:cNvSpPr txBox="1"/>
          <p:nvPr/>
        </p:nvSpPr>
        <p:spPr>
          <a:xfrm>
            <a:off x="6675120" y="40233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two: weighted logistic regression 0.475 and tuned per-category tree 0.469, both well above all-ones (0.328).</a:t>
            </a:r>
            <a:endParaRPr lang="en-US" sz="1500" dirty="0"/>
          </a:p>
        </p:txBody>
      </p:sp>
      <p:pic>
        <p:nvPicPr>
          <p:cNvPr id="8" name="Best decision tree" descr="Best decision tr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111" y="5029200"/>
            <a:ext cx="4642338" cy="1371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4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· Overall conclusions</a:t>
            </a:r>
            <a:endParaRPr lang="en-US" sz="3000" dirty="0"/>
          </a:p>
        </p:txBody>
      </p:sp>
      <p:sp>
        <p:nvSpPr>
          <p:cNvPr id="3" name="Conclusion card"/>
          <p:cNvSpPr/>
          <p:nvPr/>
        </p:nvSpPr>
        <p:spPr>
          <a:xfrm>
            <a:off x="548640" y="141732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4" name="Number badge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Number"/>
          <p:cNvSpPr txBox="1"/>
          <p:nvPr/>
        </p:nvSpPr>
        <p:spPr>
          <a:xfrm>
            <a:off x="82296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Conclusion text"/>
          <p:cNvSpPr txBox="1"/>
          <p:nvPr/>
        </p:nvSpPr>
        <p:spPr>
          <a:xfrm>
            <a:off x="1645920" y="1508760"/>
            <a:ext cx="9784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problem was the labels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system-written badge polluted a whole month and made internal evaluation far too optimistic. We found it from the gap between all-ones scores in CV and on the leaderboard.</a:t>
            </a:r>
            <a:endParaRPr lang="en-US" sz="1900" dirty="0"/>
          </a:p>
        </p:txBody>
      </p:sp>
      <p:sp>
        <p:nvSpPr>
          <p:cNvPr id="7" name="Conclusion card"/>
          <p:cNvSpPr/>
          <p:nvPr/>
        </p:nvSpPr>
        <p:spPr>
          <a:xfrm>
            <a:off x="548640" y="301752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8" name="Number badge"/>
          <p:cNvSpPr/>
          <p:nvPr/>
        </p:nvSpPr>
        <p:spPr>
          <a:xfrm>
            <a:off x="822960" y="342900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9" name="Number"/>
          <p:cNvSpPr txBox="1"/>
          <p:nvPr/>
        </p:nvSpPr>
        <p:spPr>
          <a:xfrm>
            <a:off x="82296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Conclusion text"/>
          <p:cNvSpPr txBox="1"/>
          <p:nvPr/>
        </p:nvSpPr>
        <p:spPr>
          <a:xfrm>
            <a:off x="1645920" y="3108960"/>
            <a:ext cx="9784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clean labels, two changes matter most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weighting (≈ +0.10 F1) and controlling model complexity (≈ +0.065 F1).</a:t>
            </a:r>
            <a:endParaRPr lang="en-US" sz="1900" dirty="0"/>
          </a:p>
        </p:txBody>
      </p:sp>
      <p:sp>
        <p:nvSpPr>
          <p:cNvPr id="11" name="Conclusion card"/>
          <p:cNvSpPr/>
          <p:nvPr/>
        </p:nvSpPr>
        <p:spPr>
          <a:xfrm>
            <a:off x="548640" y="461772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12" name="Number badge"/>
          <p:cNvSpPr/>
          <p:nvPr/>
        </p:nvSpPr>
        <p:spPr>
          <a:xfrm>
            <a:off x="822960" y="502920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3" name="Number"/>
          <p:cNvSpPr txBox="1"/>
          <p:nvPr/>
        </p:nvSpPr>
        <p:spPr>
          <a:xfrm>
            <a:off x="822960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Conclusion text"/>
          <p:cNvSpPr txBox="1"/>
          <p:nvPr/>
        </p:nvSpPr>
        <p:spPr>
          <a:xfrm>
            <a:off x="1645920" y="4709160"/>
            <a:ext cx="9784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features are well motivated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on page support supports them, but under random-split CV the gain is only 0.013.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4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· Limitations and notes</a:t>
            </a:r>
            <a:endParaRPr lang="en-US" sz="30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371600"/>
            <a:ext cx="11064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splits mix months. </a:t>
            </a:r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Same-month users appear in train and validation, hiding new-page and distribution-shift issues. A time-based split (past months → next month) is closer to real use.</a:t>
            </a:r>
            <a:endParaRPr lang="en-US" sz="17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fixed at 0.5. </a:t>
            </a:r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for comparability, but F1 is sensitive to it: tuning it is a separate direction.</a:t>
            </a:r>
            <a:endParaRPr lang="en-US" sz="17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results incomplete. </a:t>
            </a:r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pre-fix all-ones (0.25) and logistic regression (below all-ones) are confirmed; submission files for the fixed models are generated in outputs/.</a:t>
            </a:r>
            <a:endParaRPr lang="en-US" sz="17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Unconfirmed inference. </a:t>
            </a:r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badge_OCZE is a batch system badge is deduced from the data; neither it nor the definition of “active” is documented.</a:t>
            </a:r>
            <a:endParaRPr lang="en-US" sz="17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positive rate is an estimate. </a:t>
            </a:r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~14% is inverted from the all-ones leaderboard score; partial scoring would make it inexact.</a:t>
            </a:r>
            <a:endParaRPr lang="en-US" sz="1700" dirty="0"/>
          </a:p>
        </p:txBody>
      </p:sp>
      <p:sp>
        <p:nvSpPr>
          <p:cNvPr id="4" name="Code box"/>
          <p:cNvSpPr/>
          <p:nvPr/>
        </p:nvSpPr>
        <p:spPr>
          <a:xfrm>
            <a:off x="548640" y="5394960"/>
            <a:ext cx="7498080" cy="822960"/>
          </a:xfrm>
          <a:prstGeom prst="roundRect">
            <a:avLst>
              <a:gd name="adj" fmla="val 8889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5" name="Code"/>
          <p:cNvSpPr txBox="1"/>
          <p:nvPr/>
        </p:nvSpPr>
        <p:spPr>
          <a:xfrm>
            <a:off x="658368" y="5449824"/>
            <a:ext cx="72786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scripts/run_cv.py            # CV -&gt; outputs/cv_scores.csv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scripts/make_submissions.py  # submission_*.csv</a:t>
            </a:r>
            <a:endParaRPr lang="en-US" sz="1300" dirty="0"/>
          </a:p>
        </p:txBody>
      </p:sp>
      <p:sp>
        <p:nvSpPr>
          <p:cNvPr id="6" name="Closing"/>
          <p:cNvSpPr txBox="1"/>
          <p:nvPr/>
        </p:nvSpPr>
        <p:spPr>
          <a:xfrm>
            <a:off x="8321040" y="53949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4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Questions?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4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xtMonth">
  <a:themeElements>
    <a:clrScheme name="NextMonth">
      <a:dk1>
        <a:srgbClr val="1B1F2A"/>
      </a:dk1>
      <a:lt1>
        <a:srgbClr val="FFFFFF"/>
      </a:lt1>
      <a:dk2>
        <a:srgbClr val="14324F"/>
      </a:dk2>
      <a:lt2>
        <a:srgbClr val="EEF3F8"/>
      </a:lt2>
      <a:accent1>
        <a:srgbClr val="2A78D6"/>
      </a:accent1>
      <a:accent2>
        <a:srgbClr val="EB6834"/>
      </a:accent2>
      <a:accent3>
        <a:srgbClr val="A3A29C"/>
      </a:accent3>
      <a:accent4>
        <a:srgbClr val="1F9D8A"/>
      </a:accent4>
      <a:accent5>
        <a:srgbClr val="6D4AA5"/>
      </a:accent5>
      <a:accent6>
        <a:srgbClr val="C9A227"/>
      </a:accent6>
      <a:hlink>
        <a:srgbClr val="2A78D6"/>
      </a:hlink>
      <a:folHlink>
        <a:srgbClr val="6D4AA5"/>
      </a:folHlink>
    </a:clrScheme>
    <a:fontScheme name="NextMont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New-User Next-Month Activity Prediction</dc:title>
  <dc:subject>PptxGenJS Presentation</dc:subject>
  <dc:creator>Xiaoyu Yi, Huixi Wang</dc:creator>
  <cp:lastModifiedBy>Xiaoyu Yi, Huixi Wang</cp:lastModifiedBy>
  <cp:revision>1</cp:revision>
  <dcterms:created xsi:type="dcterms:W3CDTF">2026-10-07T06:25:55Z</dcterms:created>
  <dcterms:modified xsi:type="dcterms:W3CDTF">2026-10-07T06:25:55Z</dcterms:modified>
</cp:coreProperties>
</file>